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2" r:id="rId2"/>
    <p:sldId id="313" r:id="rId3"/>
    <p:sldId id="314" r:id="rId4"/>
    <p:sldId id="31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9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7713" autoAdjust="0"/>
  </p:normalViewPr>
  <p:slideViewPr>
    <p:cSldViewPr snapToGrid="0">
      <p:cViewPr varScale="1">
        <p:scale>
          <a:sx n="58" d="100"/>
          <a:sy n="58" d="100"/>
        </p:scale>
        <p:origin x="2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51C11096DE6DF6C/Documents/Graph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0D7-48C7-96B7-9F9F7B928C07}"/>
              </c:ext>
            </c:extLst>
          </c:dPt>
          <c:dPt>
            <c:idx val="1"/>
            <c:bubble3D val="0"/>
            <c:spPr>
              <a:gradFill>
                <a:gsLst>
                  <a:gs pos="100000">
                    <a:schemeClr val="accent2">
                      <a:lumMod val="60000"/>
                      <a:lumOff val="40000"/>
                    </a:schemeClr>
                  </a:gs>
                  <a:gs pos="0">
                    <a:schemeClr val="accent2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0D7-48C7-96B7-9F9F7B928C07}"/>
              </c:ext>
            </c:extLst>
          </c:dPt>
          <c:dPt>
            <c:idx val="2"/>
            <c:bubble3D val="0"/>
            <c:spPr>
              <a:gradFill>
                <a:gsLst>
                  <a:gs pos="100000">
                    <a:schemeClr val="accent3">
                      <a:lumMod val="60000"/>
                      <a:lumOff val="40000"/>
                    </a:schemeClr>
                  </a:gs>
                  <a:gs pos="0">
                    <a:schemeClr val="accent3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0D7-48C7-96B7-9F9F7B928C07}"/>
              </c:ext>
            </c:extLst>
          </c:dPt>
          <c:dPt>
            <c:idx val="3"/>
            <c:bubble3D val="0"/>
            <c:spPr>
              <a:gradFill>
                <a:gsLst>
                  <a:gs pos="100000">
                    <a:schemeClr val="accent4">
                      <a:lumMod val="60000"/>
                      <a:lumOff val="40000"/>
                    </a:schemeClr>
                  </a:gs>
                  <a:gs pos="0">
                    <a:schemeClr val="accent4"/>
                  </a:gs>
                </a:gsLst>
                <a:lin ang="5400000" scaled="0"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0D7-48C7-96B7-9F9F7B928C07}"/>
              </c:ext>
            </c:extLst>
          </c:dPt>
          <c:dLbls>
            <c:dLbl>
              <c:idx val="0"/>
              <c:layout>
                <c:manualLayout>
                  <c:x val="-0.18055555555555555"/>
                  <c:y val="4.62962962962962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8C7-96B7-9F9F7B928C0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8C7-96B7-9F9F7B928C0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8C7-96B7-9F9F7B928C07}"/>
                </c:ext>
              </c:extLst>
            </c:dLbl>
            <c:dLbl>
              <c:idx val="3"/>
              <c:layout>
                <c:manualLayout>
                  <c:x val="2.7777777777777267E-3"/>
                  <c:y val="-0.1435185185185185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0D7-48C7-96B7-9F9F7B928C07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Sheet1!$B$4:$B$7</c:f>
              <c:strCache>
                <c:ptCount val="4"/>
                <c:pt idx="0">
                  <c:v>Two-wheeler</c:v>
                </c:pt>
                <c:pt idx="1">
                  <c:v>Passenger Vehicles</c:v>
                </c:pt>
                <c:pt idx="2">
                  <c:v>Commercial Vehicles</c:v>
                </c:pt>
                <c:pt idx="3">
                  <c:v>Three-wheeler</c:v>
                </c:pt>
              </c:strCache>
            </c:strRef>
          </c:cat>
          <c:val>
            <c:numRef>
              <c:f>Sheet1!$C$4:$C$7</c:f>
              <c:numCache>
                <c:formatCode>0.00%</c:formatCode>
                <c:ptCount val="4"/>
                <c:pt idx="0">
                  <c:v>0.77249999999999996</c:v>
                </c:pt>
                <c:pt idx="1">
                  <c:v>0.1613</c:v>
                </c:pt>
                <c:pt idx="2">
                  <c:v>3.6600000000000001E-2</c:v>
                </c:pt>
                <c:pt idx="3">
                  <c:v>2.9600000000000001E-2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D7-48C7-96B7-9F9F7B928C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0071641140403886"/>
          <c:y val="0.16623000731103968"/>
          <c:w val="0.32933029756509047"/>
          <c:h val="0.61030355837314343"/>
        </c:manualLayout>
      </c:layout>
      <c:overlay val="0"/>
      <c:spPr>
        <a:solidFill>
          <a:schemeClr val="bg1"/>
        </a:solidFill>
        <a:ln>
          <a:solidFill>
            <a:schemeClr val="accent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3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>
      <a:gsLst>
        <a:gs pos="39664">
          <a:srgbClr val="CEDAEF"/>
        </a:gs>
        <a:gs pos="0">
          <a:schemeClr val="accent1">
            <a:lumMod val="5000"/>
            <a:lumOff val="95000"/>
          </a:schemeClr>
        </a:gs>
        <a:gs pos="74000">
          <a:schemeClr val="accent1">
            <a:lumMod val="45000"/>
            <a:lumOff val="55000"/>
          </a:schemeClr>
        </a:gs>
        <a:gs pos="99468">
          <a:schemeClr val="accent1">
            <a:lumMod val="75000"/>
          </a:schemeClr>
        </a:gs>
        <a:gs pos="98937">
          <a:srgbClr val="C6D4ED"/>
        </a:gs>
        <a:gs pos="97875">
          <a:srgbClr val="C4D3EC"/>
        </a:gs>
        <a:gs pos="95750">
          <a:srgbClr val="C0D0EB"/>
        </a:gs>
        <a:gs pos="91500">
          <a:srgbClr val="B9CBE9"/>
        </a:gs>
        <a:gs pos="83000">
          <a:schemeClr val="accent1">
            <a:lumMod val="45000"/>
            <a:lumOff val="55000"/>
          </a:schemeClr>
        </a:gs>
        <a:gs pos="100000">
          <a:schemeClr val="accent1">
            <a:lumMod val="30000"/>
            <a:lumOff val="70000"/>
          </a:schemeClr>
        </a:gs>
      </a:gsLst>
      <a:lin ang="5400000" scaled="1"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Sheet2!$C$2</c:f>
              <c:strCache>
                <c:ptCount val="1"/>
                <c:pt idx="0">
                  <c:v>Automobile Produced In India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Sheet2!$B$3:$B$12</c:f>
              <c:numCache>
                <c:formatCode>General</c:formatCod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numCache>
            </c:numRef>
          </c:cat>
          <c:val>
            <c:numRef>
              <c:f>Sheet2!$C$3:$C$12</c:f>
              <c:numCache>
                <c:formatCode>General</c:formatCode>
                <c:ptCount val="10"/>
                <c:pt idx="0">
                  <c:v>25.33</c:v>
                </c:pt>
                <c:pt idx="1">
                  <c:v>29.07</c:v>
                </c:pt>
                <c:pt idx="2">
                  <c:v>30.92</c:v>
                </c:pt>
                <c:pt idx="3">
                  <c:v>26.36</c:v>
                </c:pt>
                <c:pt idx="4">
                  <c:v>22.65</c:v>
                </c:pt>
                <c:pt idx="5">
                  <c:v>23.04</c:v>
                </c:pt>
                <c:pt idx="6">
                  <c:v>25.93</c:v>
                </c:pt>
                <c:pt idx="7">
                  <c:v>28.43</c:v>
                </c:pt>
                <c:pt idx="8">
                  <c:v>31.03</c:v>
                </c:pt>
                <c:pt idx="9">
                  <c:v>25.37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9-40AE-BD3B-831DA5921CC7}"/>
            </c:ext>
          </c:extLst>
        </c:ser>
        <c:ser>
          <c:idx val="2"/>
          <c:order val="1"/>
          <c:tx>
            <c:strRef>
              <c:f>Sheet2!$D$2</c:f>
              <c:strCache>
                <c:ptCount val="1"/>
                <c:pt idx="0">
                  <c:v>Automobile sold in India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Sheet2!$B$3:$B$12</c:f>
              <c:numCache>
                <c:formatCode>General</c:formatCod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numCache>
            </c:numRef>
          </c:cat>
          <c:val>
            <c:numRef>
              <c:f>Sheet2!$D$3:$D$12</c:f>
              <c:numCache>
                <c:formatCode>General</c:formatCode>
                <c:ptCount val="10"/>
                <c:pt idx="0">
                  <c:v>21.86</c:v>
                </c:pt>
                <c:pt idx="1">
                  <c:v>24.97</c:v>
                </c:pt>
                <c:pt idx="2">
                  <c:v>26.27</c:v>
                </c:pt>
                <c:pt idx="3">
                  <c:v>21.55</c:v>
                </c:pt>
                <c:pt idx="4">
                  <c:v>18.61</c:v>
                </c:pt>
                <c:pt idx="5">
                  <c:v>17.61</c:v>
                </c:pt>
                <c:pt idx="6">
                  <c:v>21.2</c:v>
                </c:pt>
                <c:pt idx="7">
                  <c:v>23.85</c:v>
                </c:pt>
                <c:pt idx="8">
                  <c:v>25.6</c:v>
                </c:pt>
                <c:pt idx="9">
                  <c:v>20.63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9-40AE-BD3B-831DA5921C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-100"/>
        <c:axId val="656686031"/>
        <c:axId val="656687471"/>
      </c:barChart>
      <c:catAx>
        <c:axId val="6566860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687471"/>
        <c:crosses val="autoZero"/>
        <c:auto val="1"/>
        <c:lblAlgn val="ctr"/>
        <c:lblOffset val="100"/>
        <c:noMultiLvlLbl val="0"/>
      </c:catAx>
      <c:valAx>
        <c:axId val="656687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6860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GDP (INR trillion)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Sheet3!$A$4:$A$13</c:f>
              <c:numCache>
                <c:formatCode>General</c:formatCod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numCache>
            </c:numRef>
          </c:cat>
          <c:val>
            <c:numRef>
              <c:f>Sheet3!$B$4:$B$13</c:f>
              <c:numCache>
                <c:formatCode>General</c:formatCode>
                <c:ptCount val="10"/>
                <c:pt idx="0">
                  <c:v>105</c:v>
                </c:pt>
                <c:pt idx="1">
                  <c:v>114</c:v>
                </c:pt>
                <c:pt idx="2">
                  <c:v>123</c:v>
                </c:pt>
                <c:pt idx="3">
                  <c:v>131</c:v>
                </c:pt>
                <c:pt idx="4">
                  <c:v>140</c:v>
                </c:pt>
                <c:pt idx="5">
                  <c:v>145</c:v>
                </c:pt>
                <c:pt idx="6">
                  <c:v>137</c:v>
                </c:pt>
                <c:pt idx="7">
                  <c:v>150</c:v>
                </c:pt>
                <c:pt idx="8">
                  <c:v>161</c:v>
                </c:pt>
                <c:pt idx="9">
                  <c:v>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4-41A2-9163-7FA7B2E2AB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656719151"/>
        <c:axId val="656722991"/>
      </c:barChart>
      <c:catAx>
        <c:axId val="656719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722991"/>
        <c:crosses val="autoZero"/>
        <c:auto val="1"/>
        <c:lblAlgn val="ctr"/>
        <c:lblOffset val="100"/>
        <c:noMultiLvlLbl val="0"/>
      </c:catAx>
      <c:valAx>
        <c:axId val="6567229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719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Vehicle Price (INR thousand)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Sheet4!$C$2</c:f>
              <c:strCache>
                <c:ptCount val="1"/>
                <c:pt idx="0">
                  <c:v>AVP (in Thousand)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numRef>
              <c:f>Sheet4!$B$3:$B$7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Sheet4!$C$3:$C$7</c:f>
              <c:numCache>
                <c:formatCode>General</c:formatCode>
                <c:ptCount val="5"/>
                <c:pt idx="0">
                  <c:v>491</c:v>
                </c:pt>
                <c:pt idx="1">
                  <c:v>501</c:v>
                </c:pt>
                <c:pt idx="2">
                  <c:v>523</c:v>
                </c:pt>
                <c:pt idx="3">
                  <c:v>584</c:v>
                </c:pt>
                <c:pt idx="4">
                  <c:v>659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59-49C7-8D20-281DB45DE38F}"/>
            </c:ext>
          </c:extLst>
        </c:ser>
        <c:ser>
          <c:idx val="1"/>
          <c:order val="1"/>
          <c:tx>
            <c:strRef>
              <c:f>Sheet4!$C$2</c:f>
              <c:strCache>
                <c:ptCount val="1"/>
                <c:pt idx="0">
                  <c:v>AVP (in Thousand)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Sheet4!$B$3:$B$7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Sheet4!$D$3:$D$7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7159-49C7-8D20-281DB45DE3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1"/>
        <c:overlap val="-27"/>
        <c:axId val="656726831"/>
        <c:axId val="656711471"/>
      </c:barChart>
      <c:catAx>
        <c:axId val="656726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711471"/>
        <c:crosses val="autoZero"/>
        <c:auto val="1"/>
        <c:lblAlgn val="ctr"/>
        <c:lblOffset val="100"/>
        <c:noMultiLvlLbl val="0"/>
      </c:catAx>
      <c:valAx>
        <c:axId val="656711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7268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baseline="0" dirty="0"/>
              <a:t>Domestic PV Industry Sales (millions)</a:t>
            </a:r>
          </a:p>
        </c:rich>
      </c:tx>
      <c:layout>
        <c:manualLayout>
          <c:xMode val="edge"/>
          <c:yMode val="edge"/>
          <c:x val="0.25620865328769538"/>
          <c:y val="9.7495909681938789E-2"/>
        </c:manualLayout>
      </c:layout>
      <c:overlay val="0"/>
      <c:spPr>
        <a:noFill/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3914260717410324E-2"/>
          <c:y val="0.1429551451187335"/>
          <c:w val="0.9155301837270341"/>
          <c:h val="0.73462655558556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4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numRef>
              <c:f>'Sheet3 (2)'!$A$4:$A$14</c:f>
              <c:numCache>
                <c:formatCode>General</c:formatCod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  <c:pt idx="8">
                  <c:v>2027</c:v>
                </c:pt>
                <c:pt idx="9">
                  <c:v>2028</c:v>
                </c:pt>
                <c:pt idx="10">
                  <c:v>2029</c:v>
                </c:pt>
              </c:numCache>
            </c:numRef>
          </c:cat>
          <c:val>
            <c:numRef>
              <c:f>'Sheet3 (2)'!$B$4:$B$14</c:f>
              <c:numCache>
                <c:formatCode>General</c:formatCode>
                <c:ptCount val="11"/>
                <c:pt idx="0">
                  <c:v>3.4</c:v>
                </c:pt>
                <c:pt idx="1">
                  <c:v>2.8</c:v>
                </c:pt>
                <c:pt idx="2">
                  <c:v>2.7</c:v>
                </c:pt>
                <c:pt idx="3">
                  <c:v>3.1</c:v>
                </c:pt>
                <c:pt idx="4">
                  <c:v>3.9</c:v>
                </c:pt>
                <c:pt idx="5">
                  <c:v>4.2</c:v>
                </c:pt>
                <c:pt idx="6" formatCode="0.0">
                  <c:v>4.4246496000000004</c:v>
                </c:pt>
                <c:pt idx="7" formatCode="0.0">
                  <c:v>4.6613152578048007</c:v>
                </c:pt>
                <c:pt idx="8" formatCode="0.0">
                  <c:v>4.910639688314264</c:v>
                </c:pt>
                <c:pt idx="9" formatCode="0.0">
                  <c:v>5.1732999839628171</c:v>
                </c:pt>
                <c:pt idx="10" formatCode="0.0">
                  <c:v>5.4500094535050199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C3-4724-8B3F-4A6AA35330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9"/>
        <c:overlap val="-27"/>
        <c:axId val="371660527"/>
        <c:axId val="371661007"/>
      </c:barChart>
      <c:catAx>
        <c:axId val="3716605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661007"/>
        <c:crosses val="autoZero"/>
        <c:auto val="1"/>
        <c:lblAlgn val="ctr"/>
        <c:lblOffset val="100"/>
        <c:noMultiLvlLbl val="0"/>
      </c:catAx>
      <c:valAx>
        <c:axId val="371661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16605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/>
        </a:fgClr>
        <a:bgClr>
          <a:schemeClr val="dk1">
            <a:lumMod val="10000"/>
            <a:lumOff val="90000"/>
          </a:schemeClr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lumMod val="60000"/>
              <a:lumOff val="40000"/>
            </a:schemeClr>
          </a:gs>
          <a:gs pos="0">
            <a:schemeClr val="phClr"/>
          </a:gs>
        </a:gsLst>
        <a:lin ang="5400000" scaled="0"/>
      </a:gradFill>
      <a:ln w="508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50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37E8D-BE18-4B4F-8774-06CE58640C7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301EF-9073-457B-9C67-F9954A1BB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310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https://indiamacroindicators.co.in/resources/blogs/indias-automobile-industry-trends-performance-and-what-lies-ahead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301EF-9073-457B-9C67-F9954A1BB5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07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301EF-9073-457B-9C67-F9954A1BB54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34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0301EF-9073-457B-9C67-F9954A1BB54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728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428D-BB97-4259-AD18-E6B6200B8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0B8AB-8539-4557-B740-C1660662F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C2806-FD0C-46B0-8A25-ECC227F3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AAEE6-E391-4585-816E-6F280406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6FBC-E335-4A64-9E40-944291CA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2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A9C89-AE93-4D8F-832E-BD5025EA2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3DCEF-83C7-47AD-ADEB-D9B127EFE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A37BB-A5B3-4E13-9D43-FC0142388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94741-A1F0-44B1-B20E-CCC23970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84CA4-24B2-411F-A53E-3DCCA6C1B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24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1DF6B-81CF-4780-BF71-71ED17063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6C733-534D-4858-A81A-4B1750A6C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357C1-EFE9-4245-8F88-711BA678B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81712-2E04-4D18-B195-4BB67B9C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6E9C7-293F-4643-BFE7-D8A4866D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265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7370-E1D4-459E-86B4-F201F117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88A9-1724-4C7F-93FD-3FBC82C09E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08458-B1E9-433B-8929-8F4D48782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E64D1-2A35-4248-A2F4-96A87FFA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351D7-053C-4C02-B44E-6A8AC39F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38BFD-7AD1-41BC-94DA-9046BE96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1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110D7-E380-4911-AB38-CC309A6F3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8CE4D-2E74-4900-BD64-A2AE2E17F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35AD-147D-47F6-BA0B-589BD40B5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F33C4-DEB8-4AFA-BF9E-93E821E6B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7150A-AB1C-4E2B-8F07-A04C0180E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2F0017-DDA4-4DF9-B603-E2441D0E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1F451-E8D9-4947-AAA1-99142760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E890FB-734B-48D7-B8F4-EC0CFA76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35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D8D1B-70BF-408A-BA91-6AD44961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815CA7-E652-4123-98F9-F02616F1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47387-1BE9-437F-8BEE-C4D25225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ECEA2E-ADAD-4FF3-9B98-1896D9C80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34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2E86F-FBAE-4469-A824-98BC1131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39493-4366-404F-A8AB-A102B3F1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53736-6689-48C6-BB17-C56D160C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38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19A7A-7191-4DDB-80F9-A912BA910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5BD9-A91B-4248-A612-5FA847B8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CA5A3-A992-4DD9-8D81-A4A3A99FB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05F8F-ADC3-432F-856C-23CBC8E1F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6ABF3-759E-4C42-B910-5A39BA28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86453-FEBC-40FD-80F3-2A6F212F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44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3D43-C25E-432B-8CF0-DB4D74ACC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24E66-AC42-4ABF-8FC7-9D1286160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D7BB8-CEC3-48AD-A1DF-42DF18AF2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1CE93-3FA5-4F1F-A21B-ECE7ED895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88081-C535-40CE-B3E3-0EB77A704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4537D-6B8F-466C-9472-FEB80E93E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7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6A096-5DB7-466F-A11F-5B26A336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B542F-2A10-476F-BE9C-40CFD8420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F4B8A-3417-4844-A572-7AC41DE67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70690-425D-4BC7-B0E9-E3A3277D9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47A7F-9422-4806-ADBC-760DB0D0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6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315C8-A011-4C3F-9326-C7CC925FB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A6979-EC1F-4CE2-A22C-0B1B97D34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97763-304E-4E8F-B88E-623BE341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84651-EDF4-429D-B82F-E33E3C9F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72A12-8EDD-4BCC-8F3F-05ED31FD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163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lang="en-IN" spc="-5" smtClean="0"/>
              <a:t>‹#›</a:t>
            </a:fld>
            <a:endParaRPr lang="en-IN" spc="-5" dirty="0"/>
          </a:p>
        </p:txBody>
      </p:sp>
      <p:pic>
        <p:nvPicPr>
          <p:cNvPr id="8" name="Picture 2" descr="Investment Banking Course | No. 1 Financial Modelling Institute">
            <a:extLst>
              <a:ext uri="{FF2B5EF4-FFF2-40B4-BE49-F238E27FC236}">
                <a16:creationId xmlns:a16="http://schemas.microsoft.com/office/drawing/2014/main" id="{E43B83CD-C88E-4597-89C5-E9493353A1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898856" cy="73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19D0140-EE7C-4CD0-96A9-466FD6E1B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59384"/>
            <a:ext cx="10364451" cy="7384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020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379B8-03A0-459D-9D7A-8176F8B2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5E7B2-736D-4870-9ECE-A9B924BC7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E9988-F58C-471B-A2CD-47CF898E6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F11F2-EAB8-4749-AAC5-0D110B37F4BF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AFC0C-23A8-4DF5-9A48-CC10072EB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8C5E-F8D8-4436-B158-3A572D3E6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5AA80-F4BD-499B-A78A-ED2F18C9F7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93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chart" Target="../charts/chart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hart" Target="../charts/chart2.xml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1655483" y="217632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1655483" y="239111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11655483" y="2605880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1655484" y="282099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11655484" y="3035759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11655484" y="3250521"/>
            <a:ext cx="0" cy="10795"/>
          </a:xfrm>
          <a:custGeom>
            <a:avLst/>
            <a:gdLst/>
            <a:ahLst/>
            <a:cxnLst/>
            <a:rect l="l" t="t" r="r" b="b"/>
            <a:pathLst>
              <a:path h="10795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1655484" y="3465283"/>
            <a:ext cx="0" cy="11430"/>
          </a:xfrm>
          <a:custGeom>
            <a:avLst/>
            <a:gdLst/>
            <a:ahLst/>
            <a:cxnLst/>
            <a:rect l="l" t="t" r="r" b="b"/>
            <a:pathLst>
              <a:path h="11429">
                <a:moveTo>
                  <a:pt x="0" y="11040"/>
                </a:moveTo>
                <a:lnTo>
                  <a:pt x="0" y="0"/>
                </a:lnTo>
                <a:lnTo>
                  <a:pt x="0" y="1104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B08710C-02C2-4889-AF61-A2FCF3BE8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3716" y="1590687"/>
            <a:ext cx="5583859" cy="2009013"/>
          </a:xfrm>
        </p:spPr>
        <p:txBody>
          <a:bodyPr>
            <a:normAutofit/>
          </a:bodyPr>
          <a:lstStyle/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The Indian Automotive Industry represents about 6% of the GDP and employs about 4.2 million people directly.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The Industry is expected to reach US$ 300 billion by 2026.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In 2025, 25.6 million vehicles were sold (including 2 million electric vehicles), representing a 7% growth over 2024.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This strong growth rate is characterized by rapid adoption of electric vehicles 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400" spc="-10" dirty="0">
              <a:latin typeface="Rockwell"/>
              <a:cs typeface="Rockwell"/>
            </a:endParaRPr>
          </a:p>
          <a:p>
            <a:pPr marL="12700" indent="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None/>
              <a:tabLst>
                <a:tab pos="195580" algn="l"/>
              </a:tabLst>
            </a:pPr>
            <a:endParaRPr lang="en-US" sz="1400" spc="-10" dirty="0">
              <a:latin typeface="Rockwell"/>
              <a:cs typeface="Rockwel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064C393-1C7B-4E6D-BF9B-EF0FD9861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716" y="1177585"/>
            <a:ext cx="5583860" cy="324000"/>
          </a:xfrm>
          <a:solidFill>
            <a:schemeClr val="tx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Rockwell"/>
                <a:cs typeface="Rockwell"/>
              </a:rPr>
              <a:t>Industry Overview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33A685F-6AFA-4B1E-A9FF-04FEC4AB7F27}"/>
              </a:ext>
            </a:extLst>
          </p:cNvPr>
          <p:cNvSpPr txBox="1">
            <a:spLocks/>
          </p:cNvSpPr>
          <p:nvPr/>
        </p:nvSpPr>
        <p:spPr>
          <a:xfrm>
            <a:off x="413714" y="585623"/>
            <a:ext cx="11571570" cy="575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Rockwell" panose="02060603020205020403" pitchFamily="18" charset="0"/>
              </a:rPr>
              <a:t>Industry – Overview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B60ECA3B-099C-416D-BA0F-69799CA70018}"/>
              </a:ext>
            </a:extLst>
          </p:cNvPr>
          <p:cNvSpPr txBox="1">
            <a:spLocks/>
          </p:cNvSpPr>
          <p:nvPr/>
        </p:nvSpPr>
        <p:spPr>
          <a:xfrm>
            <a:off x="413715" y="3705634"/>
            <a:ext cx="5583860" cy="324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1"/>
                </a:solidFill>
                <a:latin typeface="Rockwell"/>
                <a:cs typeface="Rockwell"/>
              </a:rPr>
              <a:t>Key Players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F5954A9B-1802-4632-9555-D94D122CAAF2}"/>
              </a:ext>
            </a:extLst>
          </p:cNvPr>
          <p:cNvSpPr txBox="1">
            <a:spLocks/>
          </p:cNvSpPr>
          <p:nvPr/>
        </p:nvSpPr>
        <p:spPr>
          <a:xfrm>
            <a:off x="6401425" y="3676770"/>
            <a:ext cx="5583860" cy="324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b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b="1">
                <a:solidFill>
                  <a:schemeClr val="bg1"/>
                </a:solidFill>
                <a:latin typeface="Rockwell"/>
                <a:cs typeface="Rockwell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1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r>
              <a:rPr lang="en-IN" dirty="0"/>
              <a:t>Statistics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1D6C6771-A414-B2BE-2745-A938DA63AC67}"/>
              </a:ext>
            </a:extLst>
          </p:cNvPr>
          <p:cNvSpPr txBox="1">
            <a:spLocks/>
          </p:cNvSpPr>
          <p:nvPr/>
        </p:nvSpPr>
        <p:spPr>
          <a:xfrm>
            <a:off x="6401424" y="1177585"/>
            <a:ext cx="5583860" cy="324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Segment wise Domestic Market Share in FY25 (%)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D808CE1C-790A-5843-44CD-133964932DEC}"/>
              </a:ext>
            </a:extLst>
          </p:cNvPr>
          <p:cNvSpPr txBox="1">
            <a:spLocks/>
          </p:cNvSpPr>
          <p:nvPr/>
        </p:nvSpPr>
        <p:spPr>
          <a:xfrm>
            <a:off x="6401422" y="1590687"/>
            <a:ext cx="5583859" cy="312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000" spc="-10" dirty="0">
              <a:latin typeface="Rockwell"/>
              <a:cs typeface="Rockwell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AA02C64-9A1E-F689-BAF5-3589E72259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050588"/>
              </p:ext>
            </p:extLst>
          </p:nvPr>
        </p:nvGraphicFramePr>
        <p:xfrm>
          <a:off x="6694892" y="1590688"/>
          <a:ext cx="5083392" cy="1996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152FD1-DA06-AD83-ED06-B9AF83E9FD2B}"/>
              </a:ext>
            </a:extLst>
          </p:cNvPr>
          <p:cNvSpPr txBox="1"/>
          <p:nvPr/>
        </p:nvSpPr>
        <p:spPr>
          <a:xfrm>
            <a:off x="3048918" y="368880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B35048C-77E8-5BBB-CF3C-B83FB10570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7059955"/>
              </p:ext>
            </p:extLst>
          </p:nvPr>
        </p:nvGraphicFramePr>
        <p:xfrm>
          <a:off x="6950588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Content Placeholder 18">
            <a:extLst>
              <a:ext uri="{FF2B5EF4-FFF2-40B4-BE49-F238E27FC236}">
                <a16:creationId xmlns:a16="http://schemas.microsoft.com/office/drawing/2014/main" id="{4A9127AE-DEEB-E1DE-F555-9175939C830A}"/>
              </a:ext>
            </a:extLst>
          </p:cNvPr>
          <p:cNvSpPr txBox="1">
            <a:spLocks/>
          </p:cNvSpPr>
          <p:nvPr/>
        </p:nvSpPr>
        <p:spPr>
          <a:xfrm>
            <a:off x="385317" y="4417763"/>
            <a:ext cx="5583859" cy="1608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2000" spc="-10" dirty="0">
                <a:latin typeface="Rockwell"/>
                <a:cs typeface="Rockwell"/>
              </a:rPr>
              <a:t>Passenger Vehicle: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2000" spc="-10" dirty="0">
                <a:latin typeface="Rockwell"/>
                <a:cs typeface="Rockwell"/>
              </a:rPr>
              <a:t>Commercial Vehicle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2000" spc="-10" dirty="0">
                <a:latin typeface="Rockwell"/>
                <a:cs typeface="Rockwell"/>
              </a:rPr>
              <a:t>Two-Wheelers 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2000" spc="-10" dirty="0">
                <a:latin typeface="Rockwell"/>
                <a:cs typeface="Rockwell"/>
              </a:rPr>
              <a:t>Three - Wheelers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800" spc="-10" dirty="0">
              <a:latin typeface="Rockwell"/>
              <a:cs typeface="Rockwell"/>
            </a:endParaRPr>
          </a:p>
          <a:p>
            <a:pPr marL="12700" indent="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Arial" panose="020B0604020202020204" pitchFamily="34" charset="0"/>
              <a:buNone/>
              <a:tabLst>
                <a:tab pos="195580" algn="l"/>
              </a:tabLst>
            </a:pPr>
            <a:endParaRPr lang="en-US" sz="1400" spc="-10" dirty="0">
              <a:latin typeface="Rockwell"/>
              <a:cs typeface="Rockwell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F7A0EBF-AB55-897D-7267-4719A6F6E7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246" y="4349143"/>
            <a:ext cx="2071631" cy="39234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206FAF7-E8A2-15FF-C376-0F6EA87DA8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64" r="1867" b="32958"/>
          <a:stretch>
            <a:fillRect/>
          </a:stretch>
        </p:blipFill>
        <p:spPr>
          <a:xfrm>
            <a:off x="3177246" y="4766930"/>
            <a:ext cx="2528889" cy="392346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E92F73D6-5C63-35E5-EA6A-C491AC9231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3807" b="-13968"/>
          <a:stretch>
            <a:fillRect/>
          </a:stretch>
        </p:blipFill>
        <p:spPr>
          <a:xfrm>
            <a:off x="3048918" y="5264241"/>
            <a:ext cx="2528889" cy="3923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6AD0106-D6DB-B582-811F-F34464E3E4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45" b="32959"/>
          <a:stretch>
            <a:fillRect/>
          </a:stretch>
        </p:blipFill>
        <p:spPr>
          <a:xfrm>
            <a:off x="3177246" y="5673991"/>
            <a:ext cx="2272229" cy="38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70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A12DD-0484-B8A2-4EA7-EF0743A7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E78A2E0-4BD3-B4BE-1D2E-75A008000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980" y="954575"/>
            <a:ext cx="1829152" cy="1424066"/>
          </a:xfrm>
          <a:solidFill>
            <a:schemeClr val="tx2">
              <a:lumMod val="75000"/>
            </a:schemeClr>
          </a:solidFill>
        </p:spPr>
        <p:txBody>
          <a:bodyPr anchor="ctr">
            <a:norm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Rockwell"/>
                <a:cs typeface="Rockwell"/>
              </a:rPr>
              <a:t>Policy Support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8D57B76-79EE-74EA-260C-AF3737A27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72262" y="878113"/>
            <a:ext cx="9613017" cy="1561196"/>
          </a:xfrm>
        </p:spPr>
        <p:txBody>
          <a:bodyPr>
            <a:normAutofit fontScale="92500" lnSpcReduction="10000"/>
          </a:bodyPr>
          <a:lstStyle/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600" spc="-10" dirty="0">
                <a:latin typeface="Rockwell"/>
                <a:cs typeface="Rockwell"/>
              </a:rPr>
              <a:t>The government policies in favor of the automotive industry have made a huge positive impact on the Indian automotive market.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600" dirty="0">
                <a:latin typeface="Rockwell"/>
                <a:cs typeface="Rockwell"/>
              </a:rPr>
              <a:t>Major Policies include Make in India, Automotive Mission Plan 2026, PLI Scheme, NEMMP 2020, and Electric Mobility Promotion Scheme 2024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600" spc="-10" dirty="0">
                <a:latin typeface="Rockwell"/>
                <a:cs typeface="Rockwell"/>
              </a:rPr>
              <a:t>The Center has launched the PM E-DRIVE Scheme with US$ 1.30 billion, which aims to accelerate the adoption of Electric vehicles and develop an EV manufacturing ecosystem.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400" dirty="0">
              <a:latin typeface="Rockwell"/>
              <a:cs typeface="Rockwell"/>
            </a:endParaRP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400" dirty="0">
              <a:latin typeface="Rockwell"/>
              <a:cs typeface="Rockwell"/>
            </a:endParaRPr>
          </a:p>
          <a:p>
            <a:pPr marL="12700" indent="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None/>
              <a:tabLst>
                <a:tab pos="195580" algn="l"/>
              </a:tabLst>
            </a:pPr>
            <a:endParaRPr lang="en-US" sz="1400" dirty="0">
              <a:latin typeface="Rockwell"/>
              <a:cs typeface="Rockwel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9C88C72-179C-AF2C-B91B-F5A8416F25A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3D7F496-73AE-6229-FFBF-F84E8A5966F1}"/>
              </a:ext>
            </a:extLst>
          </p:cNvPr>
          <p:cNvSpPr txBox="1">
            <a:spLocks/>
          </p:cNvSpPr>
          <p:nvPr/>
        </p:nvSpPr>
        <p:spPr>
          <a:xfrm>
            <a:off x="413711" y="195869"/>
            <a:ext cx="11571570" cy="575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Rockwell" panose="02060603020205020403" pitchFamily="18" charset="0"/>
              </a:rPr>
              <a:t>Industry – Key Drivers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159695C0-EAB7-6527-5E51-C82886FEE33E}"/>
              </a:ext>
            </a:extLst>
          </p:cNvPr>
          <p:cNvSpPr txBox="1">
            <a:spLocks/>
          </p:cNvSpPr>
          <p:nvPr/>
        </p:nvSpPr>
        <p:spPr>
          <a:xfrm>
            <a:off x="6401422" y="1590687"/>
            <a:ext cx="5583859" cy="312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000" spc="-10" dirty="0">
              <a:latin typeface="Rockwell"/>
              <a:cs typeface="Rockwell"/>
            </a:endParaRP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A4C54F5-BF72-C823-5616-06D291937C41}"/>
              </a:ext>
            </a:extLst>
          </p:cNvPr>
          <p:cNvSpPr txBox="1">
            <a:spLocks/>
          </p:cNvSpPr>
          <p:nvPr/>
        </p:nvSpPr>
        <p:spPr>
          <a:xfrm>
            <a:off x="413716" y="2525080"/>
            <a:ext cx="1829152" cy="210612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1"/>
                </a:solidFill>
                <a:latin typeface="Rockwell"/>
                <a:cs typeface="Rockwell"/>
              </a:rPr>
              <a:t>Growing Demand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9EDC084A-6635-3EF1-21A4-E5309E2E36D9}"/>
              </a:ext>
            </a:extLst>
          </p:cNvPr>
          <p:cNvSpPr txBox="1">
            <a:spLocks/>
          </p:cNvSpPr>
          <p:nvPr/>
        </p:nvSpPr>
        <p:spPr>
          <a:xfrm>
            <a:off x="2372262" y="2629705"/>
            <a:ext cx="4579379" cy="1896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The demand for automotive vehicles is growing due to rising per capita income and first-time buyers.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New and innovative financing options are also contributing to the growing demand.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 An increase in Infrastructure activities contributes to the demand for commercial vehicles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95C4A06-32CF-B144-D26D-ACB773A34746}"/>
              </a:ext>
            </a:extLst>
          </p:cNvPr>
          <p:cNvSpPr txBox="1">
            <a:spLocks/>
          </p:cNvSpPr>
          <p:nvPr/>
        </p:nvSpPr>
        <p:spPr>
          <a:xfrm>
            <a:off x="413714" y="4777641"/>
            <a:ext cx="1829152" cy="139180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1"/>
                </a:solidFill>
                <a:latin typeface="Rockwell"/>
              </a:rPr>
              <a:t>Growing Infrastructure and Investment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Content Placeholder 18">
            <a:extLst>
              <a:ext uri="{FF2B5EF4-FFF2-40B4-BE49-F238E27FC236}">
                <a16:creationId xmlns:a16="http://schemas.microsoft.com/office/drawing/2014/main" id="{AFBBB924-2EAC-BCEE-DAFD-C1EE280D8965}"/>
              </a:ext>
            </a:extLst>
          </p:cNvPr>
          <p:cNvSpPr txBox="1">
            <a:spLocks/>
          </p:cNvSpPr>
          <p:nvPr/>
        </p:nvSpPr>
        <p:spPr>
          <a:xfrm>
            <a:off x="2242866" y="4777641"/>
            <a:ext cx="8556471" cy="1388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dirty="0">
                <a:latin typeface="Rockwell"/>
                <a:cs typeface="Rockwell"/>
              </a:rPr>
              <a:t>Improved and growing road and highway infrastructure is also contributing to the automotive demand, particularly for passenger vehicles.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dirty="0">
                <a:latin typeface="Rockwell"/>
                <a:cs typeface="Rockwell"/>
              </a:rPr>
              <a:t> The automobile sector attracted an FDI inflow of US$ 39.7 billion between 2000-2025, and India is set to become the largest EV market by 2030, with over US$ 200 billion in investment in the next 5 years.</a:t>
            </a:r>
          </a:p>
        </p:txBody>
      </p:sp>
      <p:sp>
        <p:nvSpPr>
          <p:cNvPr id="29" name="Content Placeholder 18">
            <a:extLst>
              <a:ext uri="{FF2B5EF4-FFF2-40B4-BE49-F238E27FC236}">
                <a16:creationId xmlns:a16="http://schemas.microsoft.com/office/drawing/2014/main" id="{B0F04BB5-0F43-5635-AA6A-3FFBCB3448B8}"/>
              </a:ext>
            </a:extLst>
          </p:cNvPr>
          <p:cNvSpPr txBox="1">
            <a:spLocks/>
          </p:cNvSpPr>
          <p:nvPr/>
        </p:nvSpPr>
        <p:spPr>
          <a:xfrm>
            <a:off x="2372262" y="5270566"/>
            <a:ext cx="5202345" cy="1296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400" dirty="0">
              <a:latin typeface="Rockwell"/>
              <a:cs typeface="Rockwel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835B889-277E-3A51-87E3-139FA4DBA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0097754"/>
              </p:ext>
            </p:extLst>
          </p:nvPr>
        </p:nvGraphicFramePr>
        <p:xfrm>
          <a:off x="7081035" y="2453332"/>
          <a:ext cx="4572000" cy="1896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7084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C411C-6065-268C-466A-1ECAD2E3D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CDADE9E-6E65-F0B3-91CF-3EB61DF8F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716" y="890777"/>
            <a:ext cx="2294978" cy="1411748"/>
          </a:xfrm>
          <a:solidFill>
            <a:schemeClr val="tx2">
              <a:lumMod val="75000"/>
            </a:schemeClr>
          </a:solidFill>
        </p:spPr>
        <p:txBody>
          <a:bodyPr anchor="ctr">
            <a:normAutofit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Rockwell"/>
                <a:cs typeface="Rockwell"/>
              </a:rPr>
              <a:t>Luxury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1E97ADC-C26E-8964-4510-18C701668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50234" y="996089"/>
            <a:ext cx="4596319" cy="1306436"/>
          </a:xfrm>
        </p:spPr>
        <p:txBody>
          <a:bodyPr>
            <a:noAutofit/>
          </a:bodyPr>
          <a:lstStyle/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Cars with premium features help auto manufacturers command a higher price with higher volume 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The consumer preference towards SUVs and cars with more premium features drives the average price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400" dirty="0">
              <a:latin typeface="Rockwell"/>
              <a:cs typeface="Rockwel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F81535B-3F5E-44DB-7A96-4AEC1B47F1F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10CA9F5-27ED-FD8A-95DF-A8B631A846F2}"/>
              </a:ext>
            </a:extLst>
          </p:cNvPr>
          <p:cNvSpPr txBox="1">
            <a:spLocks/>
          </p:cNvSpPr>
          <p:nvPr/>
        </p:nvSpPr>
        <p:spPr>
          <a:xfrm>
            <a:off x="413714" y="200620"/>
            <a:ext cx="11571570" cy="575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Rockwell" panose="02060603020205020403" pitchFamily="18" charset="0"/>
              </a:rPr>
              <a:t>Industry – Key Trends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22A2D54B-354B-FF58-396A-8A1A4774B420}"/>
              </a:ext>
            </a:extLst>
          </p:cNvPr>
          <p:cNvSpPr txBox="1">
            <a:spLocks/>
          </p:cNvSpPr>
          <p:nvPr/>
        </p:nvSpPr>
        <p:spPr>
          <a:xfrm>
            <a:off x="413716" y="2610998"/>
            <a:ext cx="2294978" cy="1002535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bg1"/>
                </a:solidFill>
                <a:latin typeface="Rockwell"/>
                <a:cs typeface="Rockwell"/>
              </a:rPr>
              <a:t>Financing</a:t>
            </a:r>
            <a:endParaRPr lang="en-IN" sz="1800" dirty="0">
              <a:solidFill>
                <a:schemeClr val="bg1"/>
              </a:solidFill>
            </a:endParaRPr>
          </a:p>
        </p:txBody>
      </p:sp>
      <p:sp>
        <p:nvSpPr>
          <p:cNvPr id="22" name="Content Placeholder 18">
            <a:extLst>
              <a:ext uri="{FF2B5EF4-FFF2-40B4-BE49-F238E27FC236}">
                <a16:creationId xmlns:a16="http://schemas.microsoft.com/office/drawing/2014/main" id="{9336D4F2-1682-EA29-9A57-D504DF12BA91}"/>
              </a:ext>
            </a:extLst>
          </p:cNvPr>
          <p:cNvSpPr txBox="1">
            <a:spLocks/>
          </p:cNvSpPr>
          <p:nvPr/>
        </p:nvSpPr>
        <p:spPr>
          <a:xfrm>
            <a:off x="2950234" y="2653105"/>
            <a:ext cx="4596319" cy="1121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450" spc="-10" dirty="0">
                <a:latin typeface="Rockwell"/>
                <a:cs typeface="Rockwell"/>
              </a:rPr>
              <a:t>Automotive companies are regularly coming up with innovative financing options through partnerships with financial institutions to soften the impact of the increasing interest rates</a:t>
            </a:r>
          </a:p>
          <a:p>
            <a:pPr marL="12700" indent="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None/>
              <a:tabLst>
                <a:tab pos="195580" algn="l"/>
              </a:tabLst>
            </a:pPr>
            <a:endParaRPr lang="en-US" sz="1400" dirty="0">
              <a:latin typeface="Rockwell"/>
              <a:cs typeface="Rockwell"/>
            </a:endParaRPr>
          </a:p>
        </p:txBody>
      </p:sp>
      <p:sp>
        <p:nvSpPr>
          <p:cNvPr id="29" name="Content Placeholder 18">
            <a:extLst>
              <a:ext uri="{FF2B5EF4-FFF2-40B4-BE49-F238E27FC236}">
                <a16:creationId xmlns:a16="http://schemas.microsoft.com/office/drawing/2014/main" id="{8F6D2E57-0C88-C781-E2D5-7044788ED7DC}"/>
              </a:ext>
            </a:extLst>
          </p:cNvPr>
          <p:cNvSpPr txBox="1">
            <a:spLocks/>
          </p:cNvSpPr>
          <p:nvPr/>
        </p:nvSpPr>
        <p:spPr>
          <a:xfrm>
            <a:off x="2950233" y="4082854"/>
            <a:ext cx="4899804" cy="2484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None/>
              <a:tabLst>
                <a:tab pos="195580" algn="l"/>
              </a:tabLst>
            </a:pPr>
            <a:endParaRPr lang="en-US" sz="1400" dirty="0">
              <a:latin typeface="Rockwell"/>
              <a:cs typeface="Rockwell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A72E79-46FF-6581-2F26-E22C86E3D5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6755248"/>
              </p:ext>
            </p:extLst>
          </p:nvPr>
        </p:nvGraphicFramePr>
        <p:xfrm>
          <a:off x="7546553" y="421111"/>
          <a:ext cx="4389705" cy="2839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21AF6DB-1FEC-7237-3602-8ED26DC84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099" y="3717546"/>
            <a:ext cx="7454096" cy="300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9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89855-5461-9DED-D4FC-6FA443E9B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4FEACDD1-4654-7558-70AB-AB14F1F1C9D3}"/>
              </a:ext>
            </a:extLst>
          </p:cNvPr>
          <p:cNvSpPr/>
          <p:nvPr/>
        </p:nvSpPr>
        <p:spPr>
          <a:xfrm>
            <a:off x="11655483" y="217632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6AE271-9711-D16B-A0E6-01CD1E00F476}"/>
              </a:ext>
            </a:extLst>
          </p:cNvPr>
          <p:cNvSpPr/>
          <p:nvPr/>
        </p:nvSpPr>
        <p:spPr>
          <a:xfrm>
            <a:off x="11655483" y="239111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DE5F71F-91E9-0E20-ECFF-DEB2C284B4EB}"/>
              </a:ext>
            </a:extLst>
          </p:cNvPr>
          <p:cNvSpPr/>
          <p:nvPr/>
        </p:nvSpPr>
        <p:spPr>
          <a:xfrm>
            <a:off x="11655483" y="2605880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585F2ED-58A6-7652-132B-6418FCEA2679}"/>
              </a:ext>
            </a:extLst>
          </p:cNvPr>
          <p:cNvSpPr/>
          <p:nvPr/>
        </p:nvSpPr>
        <p:spPr>
          <a:xfrm>
            <a:off x="11655484" y="2820998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3401AED-5969-1CDE-E2B2-50F1830F5A3C}"/>
              </a:ext>
            </a:extLst>
          </p:cNvPr>
          <p:cNvSpPr/>
          <p:nvPr/>
        </p:nvSpPr>
        <p:spPr>
          <a:xfrm>
            <a:off x="11655484" y="3035759"/>
            <a:ext cx="0" cy="10795"/>
          </a:xfrm>
          <a:custGeom>
            <a:avLst/>
            <a:gdLst/>
            <a:ahLst/>
            <a:cxnLst/>
            <a:rect l="l" t="t" r="r" b="b"/>
            <a:pathLst>
              <a:path h="10794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A1C8E54-07FE-34B4-0122-CAA516ABB5C3}"/>
              </a:ext>
            </a:extLst>
          </p:cNvPr>
          <p:cNvSpPr/>
          <p:nvPr/>
        </p:nvSpPr>
        <p:spPr>
          <a:xfrm>
            <a:off x="11655484" y="3250521"/>
            <a:ext cx="0" cy="10795"/>
          </a:xfrm>
          <a:custGeom>
            <a:avLst/>
            <a:gdLst/>
            <a:ahLst/>
            <a:cxnLst/>
            <a:rect l="l" t="t" r="r" b="b"/>
            <a:pathLst>
              <a:path h="10795">
                <a:moveTo>
                  <a:pt x="0" y="10684"/>
                </a:moveTo>
                <a:lnTo>
                  <a:pt x="0" y="0"/>
                </a:lnTo>
                <a:lnTo>
                  <a:pt x="0" y="10684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C51C290-D896-5144-64CA-5464CE615990}"/>
              </a:ext>
            </a:extLst>
          </p:cNvPr>
          <p:cNvSpPr/>
          <p:nvPr/>
        </p:nvSpPr>
        <p:spPr>
          <a:xfrm>
            <a:off x="11655484" y="3465283"/>
            <a:ext cx="0" cy="11430"/>
          </a:xfrm>
          <a:custGeom>
            <a:avLst/>
            <a:gdLst/>
            <a:ahLst/>
            <a:cxnLst/>
            <a:rect l="l" t="t" r="r" b="b"/>
            <a:pathLst>
              <a:path h="11429">
                <a:moveTo>
                  <a:pt x="0" y="11040"/>
                </a:moveTo>
                <a:lnTo>
                  <a:pt x="0" y="0"/>
                </a:lnTo>
                <a:lnTo>
                  <a:pt x="0" y="1104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9F6AAE6-E5FD-E512-329F-08CA967F2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715" y="1177585"/>
            <a:ext cx="11571565" cy="324000"/>
          </a:xfrm>
          <a:solidFill>
            <a:schemeClr val="tx2">
              <a:lumMod val="75000"/>
            </a:schemeClr>
          </a:solidFill>
        </p:spPr>
        <p:txBody>
          <a:bodyPr>
            <a:normAutofit lnSpcReduction="10000"/>
          </a:bodyPr>
          <a:lstStyle/>
          <a:p>
            <a:r>
              <a:rPr lang="en-IN" sz="1800" b="1" dirty="0">
                <a:solidFill>
                  <a:schemeClr val="bg1"/>
                </a:solidFill>
                <a:latin typeface="Rockwell"/>
                <a:cs typeface="Rockwell"/>
              </a:rPr>
              <a:t>Industry Outlook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40F91728-82DA-31A7-D7D7-B1318681B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469" y="1581806"/>
            <a:ext cx="11494811" cy="1526863"/>
          </a:xfrm>
        </p:spPr>
        <p:txBody>
          <a:bodyPr>
            <a:normAutofit/>
          </a:bodyPr>
          <a:lstStyle/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600" spc="-10" dirty="0">
                <a:latin typeface="Rockwell"/>
                <a:cs typeface="Rockwell"/>
              </a:rPr>
              <a:t>As a result of government policies and expected strong GDP performance, the automotive demand is expected to grow at a CAGR of over 6%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600" spc="-10" dirty="0">
                <a:latin typeface="Rockwell"/>
                <a:cs typeface="Rockwell"/>
              </a:rPr>
              <a:t>The rise of electric vehicles is expected to contribute significantly to this growth phase </a:t>
            </a: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r>
              <a:rPr lang="en-US" sz="1600" spc="-10" dirty="0">
                <a:latin typeface="Rockwell"/>
                <a:cs typeface="Rockwell"/>
              </a:rPr>
              <a:t>Domestic passenger vehicle sales is expected to reach above 5 million in 2029, with SUVs continuing to contribute maximum to the total sales</a:t>
            </a:r>
          </a:p>
          <a:p>
            <a:pPr marL="12700" indent="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None/>
              <a:tabLst>
                <a:tab pos="195580" algn="l"/>
              </a:tabLst>
            </a:pPr>
            <a:endParaRPr lang="en-US" sz="1600" spc="-10" dirty="0">
              <a:latin typeface="Rockwell"/>
              <a:cs typeface="Rockwell"/>
            </a:endParaRP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600" spc="-10" dirty="0">
              <a:latin typeface="Rockwell"/>
              <a:cs typeface="Rockwell"/>
            </a:endParaRPr>
          </a:p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600" dirty="0">
              <a:latin typeface="Rockwell"/>
              <a:cs typeface="Rockwel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9DC27B8-1AA0-CFCD-761A-C347F41EFD41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F758F45-C23D-C6AE-CA2A-8E3516F1EDC9}"/>
              </a:ext>
            </a:extLst>
          </p:cNvPr>
          <p:cNvSpPr txBox="1">
            <a:spLocks/>
          </p:cNvSpPr>
          <p:nvPr/>
        </p:nvSpPr>
        <p:spPr>
          <a:xfrm>
            <a:off x="413714" y="585623"/>
            <a:ext cx="11571570" cy="575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Rockwell" panose="02060603020205020403" pitchFamily="18" charset="0"/>
              </a:rPr>
              <a:t>Industry – Outlook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DAEA0B0B-9EAF-75A4-2F67-35D7802A62B3}"/>
              </a:ext>
            </a:extLst>
          </p:cNvPr>
          <p:cNvSpPr txBox="1">
            <a:spLocks/>
          </p:cNvSpPr>
          <p:nvPr/>
        </p:nvSpPr>
        <p:spPr>
          <a:xfrm>
            <a:off x="413714" y="3252846"/>
            <a:ext cx="11571571" cy="324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b">
            <a:normAutofit fontScale="92500" lnSpcReduction="10000"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b="1">
                <a:solidFill>
                  <a:schemeClr val="bg1"/>
                </a:solidFill>
                <a:latin typeface="Rockwell"/>
                <a:cs typeface="Rockwell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1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r>
              <a:rPr lang="en-IN" dirty="0"/>
              <a:t>sales (millions)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EEF23FA4-7153-D386-1BA5-0AE9842944B4}"/>
              </a:ext>
            </a:extLst>
          </p:cNvPr>
          <p:cNvSpPr txBox="1">
            <a:spLocks/>
          </p:cNvSpPr>
          <p:nvPr/>
        </p:nvSpPr>
        <p:spPr>
          <a:xfrm>
            <a:off x="6401422" y="1590687"/>
            <a:ext cx="5583859" cy="312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95580" indent="-182880">
              <a:lnSpc>
                <a:spcPct val="100000"/>
              </a:lnSpc>
              <a:spcBef>
                <a:spcPts val="700"/>
              </a:spcBef>
              <a:buClr>
                <a:srgbClr val="9E3611"/>
              </a:buClr>
              <a:buSzPct val="85294"/>
              <a:buFont typeface="Wingdings"/>
              <a:buChar char=""/>
              <a:tabLst>
                <a:tab pos="195580" algn="l"/>
              </a:tabLst>
            </a:pPr>
            <a:endParaRPr lang="en-US" sz="1000" spc="-10" dirty="0">
              <a:latin typeface="Rockwell"/>
              <a:cs typeface="Rockwel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0C7AE-38CB-DA9F-5B29-4F099D5EACC7}"/>
              </a:ext>
            </a:extLst>
          </p:cNvPr>
          <p:cNvSpPr txBox="1"/>
          <p:nvPr/>
        </p:nvSpPr>
        <p:spPr>
          <a:xfrm>
            <a:off x="3048918" y="324708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2F42C1-DC64-22C1-C3B6-5E3AC39EE3D8}"/>
              </a:ext>
            </a:extLst>
          </p:cNvPr>
          <p:cNvSpPr txBox="1"/>
          <p:nvPr/>
        </p:nvSpPr>
        <p:spPr>
          <a:xfrm>
            <a:off x="3048918" y="3247088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26FDFFF-530B-4AA8-D9A4-D0DEB6FA0D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9723076"/>
              </p:ext>
            </p:extLst>
          </p:nvPr>
        </p:nvGraphicFramePr>
        <p:xfrm>
          <a:off x="413714" y="3637619"/>
          <a:ext cx="6460811" cy="3126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2640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</TotalTime>
  <Words>460</Words>
  <Application>Microsoft Office PowerPoint</Application>
  <PresentationFormat>Widescreen</PresentationFormat>
  <Paragraphs>54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Rockwell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 G</dc:creator>
  <cp:lastModifiedBy>Nitansh Deep</cp:lastModifiedBy>
  <cp:revision>77</cp:revision>
  <dcterms:created xsi:type="dcterms:W3CDTF">2021-06-19T15:37:48Z</dcterms:created>
  <dcterms:modified xsi:type="dcterms:W3CDTF">2026-06-04T16:04:07Z</dcterms:modified>
</cp:coreProperties>
</file>